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489" r:id="rId3"/>
    <p:sldId id="522" r:id="rId4"/>
    <p:sldId id="491" r:id="rId5"/>
    <p:sldId id="492" r:id="rId6"/>
    <p:sldId id="493" r:id="rId7"/>
    <p:sldId id="494" r:id="rId8"/>
    <p:sldId id="495" r:id="rId9"/>
    <p:sldId id="496" r:id="rId10"/>
    <p:sldId id="497" r:id="rId11"/>
    <p:sldId id="498" r:id="rId12"/>
    <p:sldId id="499" r:id="rId13"/>
    <p:sldId id="500" r:id="rId14"/>
    <p:sldId id="503" r:id="rId15"/>
    <p:sldId id="501" r:id="rId16"/>
    <p:sldId id="502" r:id="rId17"/>
    <p:sldId id="504" r:id="rId18"/>
    <p:sldId id="519" r:id="rId19"/>
    <p:sldId id="520" r:id="rId20"/>
    <p:sldId id="505" r:id="rId21"/>
    <p:sldId id="506" r:id="rId22"/>
    <p:sldId id="507" r:id="rId23"/>
    <p:sldId id="508" r:id="rId24"/>
    <p:sldId id="509" r:id="rId25"/>
    <p:sldId id="510" r:id="rId26"/>
    <p:sldId id="523" r:id="rId27"/>
    <p:sldId id="526" r:id="rId28"/>
    <p:sldId id="524" r:id="rId29"/>
    <p:sldId id="525" r:id="rId30"/>
    <p:sldId id="422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C358D62-FF13-4ED0-8D7B-ED26AF2A76B3}">
          <p14:sldIdLst>
            <p14:sldId id="256"/>
            <p14:sldId id="489"/>
            <p14:sldId id="522"/>
            <p14:sldId id="491"/>
            <p14:sldId id="492"/>
            <p14:sldId id="493"/>
            <p14:sldId id="494"/>
            <p14:sldId id="495"/>
            <p14:sldId id="496"/>
            <p14:sldId id="497"/>
            <p14:sldId id="498"/>
            <p14:sldId id="499"/>
            <p14:sldId id="500"/>
            <p14:sldId id="503"/>
            <p14:sldId id="501"/>
            <p14:sldId id="502"/>
            <p14:sldId id="504"/>
            <p14:sldId id="519"/>
            <p14:sldId id="520"/>
            <p14:sldId id="505"/>
            <p14:sldId id="506"/>
            <p14:sldId id="507"/>
            <p14:sldId id="508"/>
            <p14:sldId id="509"/>
            <p14:sldId id="510"/>
            <p14:sldId id="523"/>
            <p14:sldId id="526"/>
            <p14:sldId id="524"/>
            <p14:sldId id="525"/>
            <p14:sldId id="42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usha Bheemesh" initials="AB" lastIdx="1" clrIdx="0">
    <p:extLst>
      <p:ext uri="{19B8F6BF-5375-455C-9EA6-DF929625EA0E}">
        <p15:presenceInfo xmlns:p15="http://schemas.microsoft.com/office/powerpoint/2012/main" userId="ffe3a7cf70bf6f6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1DA"/>
    <a:srgbClr val="F2F8EE"/>
    <a:srgbClr val="1E1E4B"/>
    <a:srgbClr val="000A30"/>
    <a:srgbClr val="1D1E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8" d="100"/>
          <a:sy n="88" d="100"/>
        </p:scale>
        <p:origin x="1470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520A74-F42F-4A5F-AB2E-F5574BE3F268}" type="datetimeFigureOut">
              <a:rPr lang="en-IN" smtClean="0"/>
              <a:pPr/>
              <a:t>12-02-2026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8F973D-CA08-4A2D-BEFD-4741CBB6A00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4095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DD78E-237C-418C-B286-989C521030F8}" type="datetimeFigureOut">
              <a:rPr lang="en-IN" smtClean="0"/>
              <a:pPr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87B08-AAF2-4017-8A41-7FDBD8C697C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477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DD78E-237C-418C-B286-989C521030F8}" type="datetimeFigureOut">
              <a:rPr lang="en-IN" smtClean="0"/>
              <a:pPr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87B08-AAF2-4017-8A41-7FDBD8C697C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8703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DD78E-237C-418C-B286-989C521030F8}" type="datetimeFigureOut">
              <a:rPr lang="en-IN" smtClean="0"/>
              <a:pPr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87B08-AAF2-4017-8A41-7FDBD8C697C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9400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DD78E-237C-418C-B286-989C521030F8}" type="datetimeFigureOut">
              <a:rPr lang="en-IN" smtClean="0"/>
              <a:pPr/>
              <a:t>12-02-2026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87B08-AAF2-4017-8A41-7FDBD8C697C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7188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DD78E-237C-418C-B286-989C521030F8}" type="datetimeFigureOut">
              <a:rPr lang="en-IN" smtClean="0"/>
              <a:pPr/>
              <a:t>12-02-2026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87B08-AAF2-4017-8A41-7FDBD8C697C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365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DD78E-237C-418C-B286-989C521030F8}" type="datetimeFigureOut">
              <a:rPr lang="en-IN" smtClean="0"/>
              <a:pPr/>
              <a:t>12-02-2026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87B08-AAF2-4017-8A41-7FDBD8C697C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4196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DD78E-237C-418C-B286-989C521030F8}" type="datetimeFigureOut">
              <a:rPr lang="en-IN" smtClean="0"/>
              <a:pPr/>
              <a:t>12-02-2026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87B08-AAF2-4017-8A41-7FDBD8C697C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5191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DD78E-237C-418C-B286-989C521030F8}" type="datetimeFigureOut">
              <a:rPr lang="en-IN" smtClean="0"/>
              <a:pPr/>
              <a:t>12-02-2026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87B08-AAF2-4017-8A41-7FDBD8C697C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5579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DD78E-237C-418C-B286-989C521030F8}" type="datetimeFigureOut">
              <a:rPr lang="en-IN" smtClean="0"/>
              <a:pPr/>
              <a:t>12-02-2026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87B08-AAF2-4017-8A41-7FDBD8C697C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5288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DD78E-237C-418C-B286-989C521030F8}" type="datetimeFigureOut">
              <a:rPr lang="en-IN" smtClean="0"/>
              <a:pPr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87B08-AAF2-4017-8A41-7FDBD8C697C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0589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DD78E-237C-418C-B286-989C521030F8}" type="datetimeFigureOut">
              <a:rPr lang="en-IN" smtClean="0"/>
              <a:pPr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87B08-AAF2-4017-8A41-7FDBD8C697C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9732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9DD78E-237C-418C-B286-989C521030F8}" type="datetimeFigureOut">
              <a:rPr lang="en-IN" smtClean="0"/>
              <a:pPr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A87B08-AAF2-4017-8A41-7FDBD8C697C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616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tlassian.com/try/cloud/signup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4788408" y="6304003"/>
            <a:ext cx="2615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www.cambridge.edu.in</a:t>
            </a:r>
          </a:p>
        </p:txBody>
      </p:sp>
      <p:pic>
        <p:nvPicPr>
          <p:cNvPr id="10" name="Picture Placeholder 8">
            <a:extLst>
              <a:ext uri="{FF2B5EF4-FFF2-40B4-BE49-F238E27FC236}">
                <a16:creationId xmlns:a16="http://schemas.microsoft.com/office/drawing/2014/main" id="{FE6862DE-29D9-4685-93A7-4EBCF50A33F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47000"/>
                    </a14:imgEffect>
                    <a14:imgEffect>
                      <a14:brightnessContrast bright="8000" contrast="1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1" t="-110" r="36201" b="2740"/>
          <a:stretch/>
        </p:blipFill>
        <p:spPr>
          <a:xfrm>
            <a:off x="6324601" y="848261"/>
            <a:ext cx="5867400" cy="6009740"/>
          </a:xfrm>
          <a:custGeom>
            <a:avLst/>
            <a:gdLst>
              <a:gd name="connsiteX0" fmla="*/ 5919758 w 5919758"/>
              <a:gd name="connsiteY0" fmla="*/ 0 h 5825419"/>
              <a:gd name="connsiteX1" fmla="*/ 5919758 w 5919758"/>
              <a:gd name="connsiteY1" fmla="*/ 5825419 h 5825419"/>
              <a:gd name="connsiteX2" fmla="*/ 1120273 w 5919758"/>
              <a:gd name="connsiteY2" fmla="*/ 5825419 h 5825419"/>
              <a:gd name="connsiteX3" fmla="*/ 0 w 5919758"/>
              <a:gd name="connsiteY3" fmla="*/ 1588036 h 5825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19758" h="5825419">
                <a:moveTo>
                  <a:pt x="5919758" y="0"/>
                </a:moveTo>
                <a:lnTo>
                  <a:pt x="5919758" y="5825419"/>
                </a:lnTo>
                <a:lnTo>
                  <a:pt x="1120273" y="5825419"/>
                </a:lnTo>
                <a:lnTo>
                  <a:pt x="0" y="1588036"/>
                </a:lnTo>
                <a:close/>
              </a:path>
            </a:pathLst>
          </a:custGeom>
        </p:spPr>
      </p:pic>
      <p:sp>
        <p:nvSpPr>
          <p:cNvPr id="11" name="Title 6"/>
          <p:cNvSpPr>
            <a:spLocks noGrp="1"/>
          </p:cNvSpPr>
          <p:nvPr>
            <p:ph type="ctrTitle"/>
          </p:nvPr>
        </p:nvSpPr>
        <p:spPr>
          <a:xfrm>
            <a:off x="1207090" y="5623038"/>
            <a:ext cx="5116559" cy="761753"/>
          </a:xfrm>
        </p:spPr>
        <p:txBody>
          <a:bodyPr>
            <a:normAutofit fontScale="90000"/>
          </a:bodyPr>
          <a:lstStyle/>
          <a:p>
            <a:r>
              <a:rPr lang="en-US" sz="24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 Information Science and Engineering</a:t>
            </a:r>
            <a:b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9211" y="914247"/>
            <a:ext cx="2466159" cy="1585673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CA0A9D85-AA05-2350-5FDE-77153325C1A3}"/>
              </a:ext>
            </a:extLst>
          </p:cNvPr>
          <p:cNvSpPr txBox="1">
            <a:spLocks/>
          </p:cNvSpPr>
          <p:nvPr/>
        </p:nvSpPr>
        <p:spPr>
          <a:xfrm>
            <a:off x="194425" y="2860861"/>
            <a:ext cx="6129223" cy="122881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ENGINEERING Lab-CS353</a:t>
            </a:r>
          </a:p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Program-1</a:t>
            </a:r>
          </a:p>
        </p:txBody>
      </p:sp>
    </p:spTree>
    <p:extLst>
      <p:ext uri="{BB962C8B-B14F-4D97-AF65-F5344CB8AC3E}">
        <p14:creationId xmlns:p14="http://schemas.microsoft.com/office/powerpoint/2010/main" val="3442086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 txBox="1">
            <a:spLocks/>
          </p:cNvSpPr>
          <p:nvPr/>
        </p:nvSpPr>
        <p:spPr>
          <a:xfrm>
            <a:off x="681616" y="2119729"/>
            <a:ext cx="5135154" cy="38098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2023" y="0"/>
            <a:ext cx="1712857" cy="1703294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616" y="416435"/>
            <a:ext cx="1353671" cy="870374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-99" y="6320941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/>
          <p:cNvSpPr txBox="1"/>
          <p:nvPr/>
        </p:nvSpPr>
        <p:spPr>
          <a:xfrm>
            <a:off x="9145709" y="6364273"/>
            <a:ext cx="2544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www.cambridge.edu.in</a:t>
            </a:r>
          </a:p>
        </p:txBody>
      </p:sp>
      <p:sp>
        <p:nvSpPr>
          <p:cNvPr id="24" name="Title 6"/>
          <p:cNvSpPr txBox="1">
            <a:spLocks/>
          </p:cNvSpPr>
          <p:nvPr/>
        </p:nvSpPr>
        <p:spPr>
          <a:xfrm>
            <a:off x="502023" y="6457194"/>
            <a:ext cx="6308707" cy="2764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8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Science And Engineering</a:t>
            </a:r>
            <a:endParaRPr lang="en-IN" sz="18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3571BC-C542-445E-BF4D-58F17190B9A6}"/>
              </a:ext>
            </a:extLst>
          </p:cNvPr>
          <p:cNvSpPr txBox="1">
            <a:spLocks/>
          </p:cNvSpPr>
          <p:nvPr/>
        </p:nvSpPr>
        <p:spPr>
          <a:xfrm>
            <a:off x="6957726" y="2078149"/>
            <a:ext cx="5234274" cy="38098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B45C6B90-4B79-214F-0FA9-8EA56F007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4473" y="334224"/>
            <a:ext cx="929550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15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I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Experiment-1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15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B35C4-9016-C257-C1CE-61EEC42BD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Study the Agile process of software development</a:t>
            </a: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❖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Scrum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❖ XP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❖ Lean software development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❖ TDD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❖ Kanban</a:t>
            </a:r>
          </a:p>
        </p:txBody>
      </p:sp>
    </p:spTree>
    <p:extLst>
      <p:ext uri="{BB962C8B-B14F-4D97-AF65-F5344CB8AC3E}">
        <p14:creationId xmlns:p14="http://schemas.microsoft.com/office/powerpoint/2010/main" val="3270814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 txBox="1">
            <a:spLocks/>
          </p:cNvSpPr>
          <p:nvPr/>
        </p:nvSpPr>
        <p:spPr>
          <a:xfrm>
            <a:off x="681616" y="2119729"/>
            <a:ext cx="5135154" cy="38098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2023" y="0"/>
            <a:ext cx="1712857" cy="1703294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616" y="416435"/>
            <a:ext cx="1353671" cy="870374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-99" y="6320941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/>
          <p:cNvSpPr txBox="1"/>
          <p:nvPr/>
        </p:nvSpPr>
        <p:spPr>
          <a:xfrm>
            <a:off x="9145709" y="6364273"/>
            <a:ext cx="2544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www.cambridge.edu.in</a:t>
            </a:r>
          </a:p>
        </p:txBody>
      </p:sp>
      <p:sp>
        <p:nvSpPr>
          <p:cNvPr id="24" name="Title 6"/>
          <p:cNvSpPr txBox="1">
            <a:spLocks/>
          </p:cNvSpPr>
          <p:nvPr/>
        </p:nvSpPr>
        <p:spPr>
          <a:xfrm>
            <a:off x="502023" y="6457194"/>
            <a:ext cx="6308707" cy="2764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8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Science And Engineering</a:t>
            </a:r>
            <a:endParaRPr lang="en-IN" sz="18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3571BC-C542-445E-BF4D-58F17190B9A6}"/>
              </a:ext>
            </a:extLst>
          </p:cNvPr>
          <p:cNvSpPr txBox="1">
            <a:spLocks/>
          </p:cNvSpPr>
          <p:nvPr/>
        </p:nvSpPr>
        <p:spPr>
          <a:xfrm>
            <a:off x="6957726" y="2078149"/>
            <a:ext cx="5234274" cy="38098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B45C6B90-4B79-214F-0FA9-8EA56F007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4473" y="334224"/>
            <a:ext cx="929550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15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I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Agile Process Model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15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B35C4-9016-C257-C1CE-61EEC42BD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Scrum: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Scrum principles are consistent with the agile platform and are used to guide development activities within a process that incorporates the following framework activities: 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Requirements, 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Analysis, 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Design, 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Evolution, and 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Delivery. </a:t>
            </a:r>
          </a:p>
        </p:txBody>
      </p:sp>
    </p:spTree>
    <p:extLst>
      <p:ext uri="{BB962C8B-B14F-4D97-AF65-F5344CB8AC3E}">
        <p14:creationId xmlns:p14="http://schemas.microsoft.com/office/powerpoint/2010/main" val="13718766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 txBox="1">
            <a:spLocks/>
          </p:cNvSpPr>
          <p:nvPr/>
        </p:nvSpPr>
        <p:spPr>
          <a:xfrm>
            <a:off x="681616" y="2119729"/>
            <a:ext cx="5135154" cy="38098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2023" y="0"/>
            <a:ext cx="1712857" cy="1703294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616" y="416435"/>
            <a:ext cx="1353671" cy="870374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-99" y="6320941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/>
          <p:cNvSpPr txBox="1"/>
          <p:nvPr/>
        </p:nvSpPr>
        <p:spPr>
          <a:xfrm>
            <a:off x="9145709" y="6364273"/>
            <a:ext cx="2544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www.cambridge.edu.in</a:t>
            </a:r>
          </a:p>
        </p:txBody>
      </p:sp>
      <p:sp>
        <p:nvSpPr>
          <p:cNvPr id="24" name="Title 6"/>
          <p:cNvSpPr txBox="1">
            <a:spLocks/>
          </p:cNvSpPr>
          <p:nvPr/>
        </p:nvSpPr>
        <p:spPr>
          <a:xfrm>
            <a:off x="502023" y="6457194"/>
            <a:ext cx="6308707" cy="2764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8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Science And Engineering</a:t>
            </a:r>
            <a:endParaRPr lang="en-IN" sz="18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3571BC-C542-445E-BF4D-58F17190B9A6}"/>
              </a:ext>
            </a:extLst>
          </p:cNvPr>
          <p:cNvSpPr txBox="1">
            <a:spLocks/>
          </p:cNvSpPr>
          <p:nvPr/>
        </p:nvSpPr>
        <p:spPr>
          <a:xfrm>
            <a:off x="6957726" y="2078149"/>
            <a:ext cx="5234274" cy="38098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B45C6B90-4B79-214F-0FA9-8EA56F007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4473" y="288057"/>
            <a:ext cx="9295504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15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kumimoji="0" lang="en-IN" altLang="en-US" sz="3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I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Agile Process Model</a:t>
            </a:r>
          </a:p>
          <a:p>
            <a:endParaRPr kumimoji="0" lang="en-US" altLang="en-US" sz="2400" b="1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B35C4-9016-C257-C1CE-61EEC42BD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Scrum: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Within each framework activity, work tasks occur within a process pattern called a sprint.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work conducted within a sprint is adapted to the problem and is defined and often modified in real time by the Scrum team.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number of sprints required for each framework activity will vary depending on product complexity and size.</a:t>
            </a: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7656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 txBox="1">
            <a:spLocks/>
          </p:cNvSpPr>
          <p:nvPr/>
        </p:nvSpPr>
        <p:spPr>
          <a:xfrm>
            <a:off x="681616" y="2119729"/>
            <a:ext cx="5135154" cy="38098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2023" y="0"/>
            <a:ext cx="1712857" cy="1703294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616" y="416435"/>
            <a:ext cx="1353671" cy="870374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-99" y="6320941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/>
          <p:cNvSpPr txBox="1"/>
          <p:nvPr/>
        </p:nvSpPr>
        <p:spPr>
          <a:xfrm>
            <a:off x="9145709" y="6364273"/>
            <a:ext cx="2544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www.cambridge.edu.in</a:t>
            </a:r>
          </a:p>
        </p:txBody>
      </p:sp>
      <p:sp>
        <p:nvSpPr>
          <p:cNvPr id="24" name="Title 6"/>
          <p:cNvSpPr txBox="1">
            <a:spLocks/>
          </p:cNvSpPr>
          <p:nvPr/>
        </p:nvSpPr>
        <p:spPr>
          <a:xfrm>
            <a:off x="502023" y="6457194"/>
            <a:ext cx="6308707" cy="2764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8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Science And Engineering</a:t>
            </a:r>
            <a:endParaRPr lang="en-IN" sz="18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3571BC-C542-445E-BF4D-58F17190B9A6}"/>
              </a:ext>
            </a:extLst>
          </p:cNvPr>
          <p:cNvSpPr txBox="1">
            <a:spLocks/>
          </p:cNvSpPr>
          <p:nvPr/>
        </p:nvSpPr>
        <p:spPr>
          <a:xfrm>
            <a:off x="6957726" y="2078149"/>
            <a:ext cx="5234274" cy="38098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B45C6B90-4B79-214F-0FA9-8EA56F007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4473" y="334224"/>
            <a:ext cx="929550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15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kumimoji="0" lang="en-IN" altLang="en-US" sz="3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I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Agile Process Model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15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B35C4-9016-C257-C1CE-61EEC42BD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Scrum: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Scrum emphasizes the use of a set of software process patterns that have proven effective for projects with tight timelines, changing requirements, and business criticality.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of these process patterns defines a set of development actions: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Backlog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Sprints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Scrum meetings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Demos</a:t>
            </a: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7610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 txBox="1">
            <a:spLocks/>
          </p:cNvSpPr>
          <p:nvPr/>
        </p:nvSpPr>
        <p:spPr>
          <a:xfrm>
            <a:off x="681616" y="2119729"/>
            <a:ext cx="5135154" cy="38098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2023" y="0"/>
            <a:ext cx="1712857" cy="1703294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616" y="416435"/>
            <a:ext cx="1353671" cy="870374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-99" y="6320941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/>
          <p:cNvSpPr txBox="1"/>
          <p:nvPr/>
        </p:nvSpPr>
        <p:spPr>
          <a:xfrm>
            <a:off x="9145709" y="6364273"/>
            <a:ext cx="2544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www.cambridge.edu.in</a:t>
            </a:r>
          </a:p>
        </p:txBody>
      </p:sp>
      <p:sp>
        <p:nvSpPr>
          <p:cNvPr id="24" name="Title 6"/>
          <p:cNvSpPr txBox="1">
            <a:spLocks/>
          </p:cNvSpPr>
          <p:nvPr/>
        </p:nvSpPr>
        <p:spPr>
          <a:xfrm>
            <a:off x="502023" y="6457194"/>
            <a:ext cx="6308707" cy="2764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8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Science And Engineering</a:t>
            </a:r>
            <a:endParaRPr lang="en-IN" sz="18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3571BC-C542-445E-BF4D-58F17190B9A6}"/>
              </a:ext>
            </a:extLst>
          </p:cNvPr>
          <p:cNvSpPr txBox="1">
            <a:spLocks/>
          </p:cNvSpPr>
          <p:nvPr/>
        </p:nvSpPr>
        <p:spPr>
          <a:xfrm>
            <a:off x="6957726" y="2078149"/>
            <a:ext cx="5234274" cy="38098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B45C6B90-4B79-214F-0FA9-8EA56F007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4473" y="334224"/>
            <a:ext cx="929550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15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kumimoji="0" lang="en-IN" altLang="en-US" sz="3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I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Agile Process Model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15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B35C4-9016-C257-C1CE-61EEC42BD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Scrum:</a:t>
            </a: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Backlog: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prioritized list of project requirements or features that provide business value for the customer.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Items can be added to the backlog at any time 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product manager assesses the backlog and updates priorities as required.</a:t>
            </a: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6844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 txBox="1">
            <a:spLocks/>
          </p:cNvSpPr>
          <p:nvPr/>
        </p:nvSpPr>
        <p:spPr>
          <a:xfrm>
            <a:off x="681616" y="2119729"/>
            <a:ext cx="5135154" cy="38098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2023" y="0"/>
            <a:ext cx="1712857" cy="1703294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616" y="416435"/>
            <a:ext cx="1353671" cy="870374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-99" y="6320941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/>
          <p:cNvSpPr txBox="1"/>
          <p:nvPr/>
        </p:nvSpPr>
        <p:spPr>
          <a:xfrm>
            <a:off x="9145709" y="6364273"/>
            <a:ext cx="2544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www.cambridge.edu.in</a:t>
            </a:r>
          </a:p>
        </p:txBody>
      </p:sp>
      <p:sp>
        <p:nvSpPr>
          <p:cNvPr id="24" name="Title 6"/>
          <p:cNvSpPr txBox="1">
            <a:spLocks/>
          </p:cNvSpPr>
          <p:nvPr/>
        </p:nvSpPr>
        <p:spPr>
          <a:xfrm>
            <a:off x="502023" y="6457194"/>
            <a:ext cx="6308707" cy="2764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8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Science And Engineering</a:t>
            </a:r>
            <a:endParaRPr lang="en-IN" sz="18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3571BC-C542-445E-BF4D-58F17190B9A6}"/>
              </a:ext>
            </a:extLst>
          </p:cNvPr>
          <p:cNvSpPr txBox="1">
            <a:spLocks/>
          </p:cNvSpPr>
          <p:nvPr/>
        </p:nvSpPr>
        <p:spPr>
          <a:xfrm>
            <a:off x="6957726" y="2078149"/>
            <a:ext cx="5234274" cy="38098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B45C6B90-4B79-214F-0FA9-8EA56F007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4473" y="334224"/>
            <a:ext cx="929550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15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kumimoji="0" lang="en-IN" altLang="en-US" sz="3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I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Agile Process Model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15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B35C4-9016-C257-C1CE-61EEC42BD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Scrum:</a:t>
            </a: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Sprint: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consists of work units that are required to achieve a requirement defined in the backlog that must be fit into a predefined time-box (typically 30 days).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Changes (e.g., backlog work items) are not introduced during the sprint. Hence, the sprint allows team members to work in a short-term, but stable environment.</a:t>
            </a:r>
          </a:p>
        </p:txBody>
      </p:sp>
    </p:spTree>
    <p:extLst>
      <p:ext uri="{BB962C8B-B14F-4D97-AF65-F5344CB8AC3E}">
        <p14:creationId xmlns:p14="http://schemas.microsoft.com/office/powerpoint/2010/main" val="30327046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 txBox="1">
            <a:spLocks/>
          </p:cNvSpPr>
          <p:nvPr/>
        </p:nvSpPr>
        <p:spPr>
          <a:xfrm>
            <a:off x="681616" y="2119729"/>
            <a:ext cx="5135154" cy="38098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2023" y="0"/>
            <a:ext cx="1712857" cy="1703294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616" y="416435"/>
            <a:ext cx="1353671" cy="870374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-99" y="6320941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/>
          <p:cNvSpPr txBox="1"/>
          <p:nvPr/>
        </p:nvSpPr>
        <p:spPr>
          <a:xfrm>
            <a:off x="9145709" y="6364273"/>
            <a:ext cx="2544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www.cambridge.edu.in</a:t>
            </a:r>
          </a:p>
        </p:txBody>
      </p:sp>
      <p:sp>
        <p:nvSpPr>
          <p:cNvPr id="24" name="Title 6"/>
          <p:cNvSpPr txBox="1">
            <a:spLocks/>
          </p:cNvSpPr>
          <p:nvPr/>
        </p:nvSpPr>
        <p:spPr>
          <a:xfrm>
            <a:off x="502023" y="6457194"/>
            <a:ext cx="6308707" cy="2764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8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Science And Engineering</a:t>
            </a:r>
            <a:endParaRPr lang="en-IN" sz="18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3571BC-C542-445E-BF4D-58F17190B9A6}"/>
              </a:ext>
            </a:extLst>
          </p:cNvPr>
          <p:cNvSpPr txBox="1">
            <a:spLocks/>
          </p:cNvSpPr>
          <p:nvPr/>
        </p:nvSpPr>
        <p:spPr>
          <a:xfrm>
            <a:off x="6957726" y="2078149"/>
            <a:ext cx="5234274" cy="38098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B45C6B90-4B79-214F-0FA9-8EA56F007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4473" y="334224"/>
            <a:ext cx="929550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15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kumimoji="0" lang="en-IN" altLang="en-US" sz="3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I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Agile Process Model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15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B35C4-9016-C257-C1CE-61EEC42BD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Scrum:</a:t>
            </a: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Scrum Meetings: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Scrum Meetings are (typically 15 minutes) meetings held daily by the Scrum team. 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key questions are asked and answered by all team members: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What did you do since the last team meeting?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What obstacles are you encountering?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What do you plan to accomplish by the next team meeting?</a:t>
            </a:r>
          </a:p>
        </p:txBody>
      </p:sp>
    </p:spTree>
    <p:extLst>
      <p:ext uri="{BB962C8B-B14F-4D97-AF65-F5344CB8AC3E}">
        <p14:creationId xmlns:p14="http://schemas.microsoft.com/office/powerpoint/2010/main" val="25171517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 txBox="1">
            <a:spLocks/>
          </p:cNvSpPr>
          <p:nvPr/>
        </p:nvSpPr>
        <p:spPr>
          <a:xfrm>
            <a:off x="681616" y="2119729"/>
            <a:ext cx="5135154" cy="38098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2023" y="0"/>
            <a:ext cx="1712857" cy="1703294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616" y="416435"/>
            <a:ext cx="1353671" cy="870374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-99" y="6320941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/>
          <p:cNvSpPr txBox="1"/>
          <p:nvPr/>
        </p:nvSpPr>
        <p:spPr>
          <a:xfrm>
            <a:off x="9145709" y="6364273"/>
            <a:ext cx="2544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www.cambridge.edu.in</a:t>
            </a:r>
          </a:p>
        </p:txBody>
      </p:sp>
      <p:sp>
        <p:nvSpPr>
          <p:cNvPr id="24" name="Title 6"/>
          <p:cNvSpPr txBox="1">
            <a:spLocks/>
          </p:cNvSpPr>
          <p:nvPr/>
        </p:nvSpPr>
        <p:spPr>
          <a:xfrm>
            <a:off x="502023" y="6457194"/>
            <a:ext cx="6308707" cy="2764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8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Science And Engineering</a:t>
            </a:r>
            <a:endParaRPr lang="en-IN" sz="18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3571BC-C542-445E-BF4D-58F17190B9A6}"/>
              </a:ext>
            </a:extLst>
          </p:cNvPr>
          <p:cNvSpPr txBox="1">
            <a:spLocks/>
          </p:cNvSpPr>
          <p:nvPr/>
        </p:nvSpPr>
        <p:spPr>
          <a:xfrm>
            <a:off x="6957726" y="2078149"/>
            <a:ext cx="5234274" cy="38098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B45C6B90-4B79-214F-0FA9-8EA56F007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4473" y="334224"/>
            <a:ext cx="929550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15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kumimoji="0" lang="en-IN" altLang="en-US" sz="3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I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Agile Process Model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15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B35C4-9016-C257-C1CE-61EEC42BD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Scrum:</a:t>
            </a: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Scrum Meetings: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team leader, called a Scrum master, leads the meeting and assesses the responses from each person.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Scrum meeting helps the team to uncover potential problems as early as possible.</a:t>
            </a:r>
          </a:p>
        </p:txBody>
      </p:sp>
    </p:spTree>
    <p:extLst>
      <p:ext uri="{BB962C8B-B14F-4D97-AF65-F5344CB8AC3E}">
        <p14:creationId xmlns:p14="http://schemas.microsoft.com/office/powerpoint/2010/main" val="31669748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 txBox="1">
            <a:spLocks/>
          </p:cNvSpPr>
          <p:nvPr/>
        </p:nvSpPr>
        <p:spPr>
          <a:xfrm>
            <a:off x="681616" y="2119729"/>
            <a:ext cx="5135154" cy="38098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2023" y="0"/>
            <a:ext cx="1712857" cy="1703294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616" y="416435"/>
            <a:ext cx="1353671" cy="870374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-99" y="6320941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/>
          <p:cNvSpPr txBox="1"/>
          <p:nvPr/>
        </p:nvSpPr>
        <p:spPr>
          <a:xfrm>
            <a:off x="9145709" y="6364273"/>
            <a:ext cx="2544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www.cambridge.edu.in</a:t>
            </a:r>
          </a:p>
        </p:txBody>
      </p:sp>
      <p:sp>
        <p:nvSpPr>
          <p:cNvPr id="24" name="Title 6"/>
          <p:cNvSpPr txBox="1">
            <a:spLocks/>
          </p:cNvSpPr>
          <p:nvPr/>
        </p:nvSpPr>
        <p:spPr>
          <a:xfrm>
            <a:off x="502023" y="6457194"/>
            <a:ext cx="6308707" cy="2764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8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Science And Engineering</a:t>
            </a:r>
            <a:endParaRPr lang="en-IN" sz="18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3571BC-C542-445E-BF4D-58F17190B9A6}"/>
              </a:ext>
            </a:extLst>
          </p:cNvPr>
          <p:cNvSpPr txBox="1">
            <a:spLocks/>
          </p:cNvSpPr>
          <p:nvPr/>
        </p:nvSpPr>
        <p:spPr>
          <a:xfrm>
            <a:off x="6957726" y="2078149"/>
            <a:ext cx="5234274" cy="38098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B45C6B90-4B79-214F-0FA9-8EA56F007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4473" y="334224"/>
            <a:ext cx="929550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15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kumimoji="0" lang="en-IN" altLang="en-US" sz="3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I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Agile Process Model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15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B35C4-9016-C257-C1CE-61EEC42BD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Scrum:</a:t>
            </a: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Demos: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Demos deliver the software increment to the customer so that functionality that has been implemented can be demonstrated and evaluated by the customer.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important to note that the demo may not contain all planned functionality, but rather those functions that can be delivered within the time-box that was established.</a:t>
            </a:r>
          </a:p>
        </p:txBody>
      </p:sp>
    </p:spTree>
    <p:extLst>
      <p:ext uri="{BB962C8B-B14F-4D97-AF65-F5344CB8AC3E}">
        <p14:creationId xmlns:p14="http://schemas.microsoft.com/office/powerpoint/2010/main" val="2170374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 txBox="1">
            <a:spLocks/>
          </p:cNvSpPr>
          <p:nvPr/>
        </p:nvSpPr>
        <p:spPr>
          <a:xfrm>
            <a:off x="681616" y="2119729"/>
            <a:ext cx="5135154" cy="38098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2023" y="0"/>
            <a:ext cx="1712857" cy="1703294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616" y="416435"/>
            <a:ext cx="1353671" cy="870374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-99" y="6320941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/>
          <p:cNvSpPr txBox="1"/>
          <p:nvPr/>
        </p:nvSpPr>
        <p:spPr>
          <a:xfrm>
            <a:off x="9145709" y="6364273"/>
            <a:ext cx="2544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www.cambridge.edu.in</a:t>
            </a:r>
          </a:p>
        </p:txBody>
      </p:sp>
      <p:sp>
        <p:nvSpPr>
          <p:cNvPr id="24" name="Title 6"/>
          <p:cNvSpPr txBox="1">
            <a:spLocks/>
          </p:cNvSpPr>
          <p:nvPr/>
        </p:nvSpPr>
        <p:spPr>
          <a:xfrm>
            <a:off x="502023" y="6457194"/>
            <a:ext cx="6308707" cy="2764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8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Science And Engineering</a:t>
            </a:r>
            <a:endParaRPr lang="en-IN" sz="18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3571BC-C542-445E-BF4D-58F17190B9A6}"/>
              </a:ext>
            </a:extLst>
          </p:cNvPr>
          <p:cNvSpPr txBox="1">
            <a:spLocks/>
          </p:cNvSpPr>
          <p:nvPr/>
        </p:nvSpPr>
        <p:spPr>
          <a:xfrm>
            <a:off x="6957726" y="2078149"/>
            <a:ext cx="5234274" cy="38098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B45C6B90-4B79-214F-0FA9-8EA56F007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4473" y="334224"/>
            <a:ext cx="929550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15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kumimoji="0" lang="en-IN" altLang="en-US" sz="3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I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Agile Process Model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15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B35C4-9016-C257-C1CE-61EEC42BD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Members of Scrum Team:</a:t>
            </a:r>
          </a:p>
          <a:p>
            <a:pPr algn="just"/>
            <a:r>
              <a:rPr lang="en-US" b="0" i="0" dirty="0">
                <a:solidFill>
                  <a:srgbClr val="292A2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 Owner, </a:t>
            </a:r>
          </a:p>
          <a:p>
            <a:pPr algn="just"/>
            <a:r>
              <a:rPr lang="en-US" b="0" i="0" dirty="0">
                <a:solidFill>
                  <a:srgbClr val="292A2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Scrum Master, and </a:t>
            </a:r>
          </a:p>
          <a:p>
            <a:pPr algn="just"/>
            <a:r>
              <a:rPr lang="en-US" b="0" i="0" dirty="0">
                <a:solidFill>
                  <a:srgbClr val="292A2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Development Team.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64571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 txBox="1">
            <a:spLocks/>
          </p:cNvSpPr>
          <p:nvPr/>
        </p:nvSpPr>
        <p:spPr>
          <a:xfrm>
            <a:off x="681616" y="2119729"/>
            <a:ext cx="5135154" cy="38098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2023" y="0"/>
            <a:ext cx="1712857" cy="1703294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616" y="416435"/>
            <a:ext cx="1353671" cy="870374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-99" y="6320941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/>
          <p:cNvSpPr txBox="1"/>
          <p:nvPr/>
        </p:nvSpPr>
        <p:spPr>
          <a:xfrm>
            <a:off x="9145709" y="6364273"/>
            <a:ext cx="2544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www.cambridge.edu.in</a:t>
            </a:r>
          </a:p>
        </p:txBody>
      </p:sp>
      <p:sp>
        <p:nvSpPr>
          <p:cNvPr id="24" name="Title 6"/>
          <p:cNvSpPr txBox="1">
            <a:spLocks/>
          </p:cNvSpPr>
          <p:nvPr/>
        </p:nvSpPr>
        <p:spPr>
          <a:xfrm>
            <a:off x="502023" y="6457194"/>
            <a:ext cx="6308707" cy="2764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8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Science And Engineering</a:t>
            </a:r>
            <a:endParaRPr lang="en-IN" sz="18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3571BC-C542-445E-BF4D-58F17190B9A6}"/>
              </a:ext>
            </a:extLst>
          </p:cNvPr>
          <p:cNvSpPr txBox="1">
            <a:spLocks/>
          </p:cNvSpPr>
          <p:nvPr/>
        </p:nvSpPr>
        <p:spPr>
          <a:xfrm>
            <a:off x="6957726" y="2078149"/>
            <a:ext cx="5234274" cy="38098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B45C6B90-4B79-214F-0FA9-8EA56F007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4473" y="334224"/>
            <a:ext cx="929550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15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kumimoji="0" lang="en-IN" altLang="en-US" sz="3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I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Agile Process Model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15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B35C4-9016-C257-C1CE-61EEC42BD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owners: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are the champions for their product. They are focused on understanding business, customer, and market requirements.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role prioritizes the work to be done by the engineering team accordingly. </a:t>
            </a: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04726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 txBox="1">
            <a:spLocks/>
          </p:cNvSpPr>
          <p:nvPr/>
        </p:nvSpPr>
        <p:spPr>
          <a:xfrm>
            <a:off x="681616" y="2119729"/>
            <a:ext cx="5135154" cy="38098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2023" y="0"/>
            <a:ext cx="1712857" cy="1703294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616" y="416435"/>
            <a:ext cx="1353671" cy="870374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-99" y="6320941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/>
          <p:cNvSpPr txBox="1"/>
          <p:nvPr/>
        </p:nvSpPr>
        <p:spPr>
          <a:xfrm>
            <a:off x="9145709" y="6364273"/>
            <a:ext cx="2544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www.cambridge.edu.in</a:t>
            </a:r>
          </a:p>
        </p:txBody>
      </p:sp>
      <p:sp>
        <p:nvSpPr>
          <p:cNvPr id="24" name="Title 6"/>
          <p:cNvSpPr txBox="1">
            <a:spLocks/>
          </p:cNvSpPr>
          <p:nvPr/>
        </p:nvSpPr>
        <p:spPr>
          <a:xfrm>
            <a:off x="502023" y="6457194"/>
            <a:ext cx="6308707" cy="2764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8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Science And Engineering</a:t>
            </a:r>
            <a:endParaRPr lang="en-IN" sz="18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3571BC-C542-445E-BF4D-58F17190B9A6}"/>
              </a:ext>
            </a:extLst>
          </p:cNvPr>
          <p:cNvSpPr txBox="1">
            <a:spLocks/>
          </p:cNvSpPr>
          <p:nvPr/>
        </p:nvSpPr>
        <p:spPr>
          <a:xfrm>
            <a:off x="6957726" y="2078149"/>
            <a:ext cx="5234274" cy="38098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B45C6B90-4B79-214F-0FA9-8EA56F007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4473" y="334224"/>
            <a:ext cx="929550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15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kumimoji="0" lang="en-IN" altLang="en-US" sz="3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I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Agile Process Model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15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B35C4-9016-C257-C1CE-61EEC42BD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product owners: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Builds and manages the product backlog.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sprint backlog management by developing, ordering, and transparently managing the product backlog for effective planning and prioritization.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Gives the team clear guidance on which features to deliver next.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Decides when to ship the product with a predisposition toward more frequent delivery.</a:t>
            </a: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37985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 txBox="1">
            <a:spLocks/>
          </p:cNvSpPr>
          <p:nvPr/>
        </p:nvSpPr>
        <p:spPr>
          <a:xfrm>
            <a:off x="681616" y="2119729"/>
            <a:ext cx="5135154" cy="38098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2023" y="0"/>
            <a:ext cx="1712857" cy="1703294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616" y="416435"/>
            <a:ext cx="1353671" cy="870374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-99" y="6320941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/>
          <p:cNvSpPr txBox="1"/>
          <p:nvPr/>
        </p:nvSpPr>
        <p:spPr>
          <a:xfrm>
            <a:off x="9145709" y="6364273"/>
            <a:ext cx="2544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www.cambridge.edu.in</a:t>
            </a:r>
          </a:p>
        </p:txBody>
      </p:sp>
      <p:sp>
        <p:nvSpPr>
          <p:cNvPr id="24" name="Title 6"/>
          <p:cNvSpPr txBox="1">
            <a:spLocks/>
          </p:cNvSpPr>
          <p:nvPr/>
        </p:nvSpPr>
        <p:spPr>
          <a:xfrm>
            <a:off x="502023" y="6457194"/>
            <a:ext cx="6308707" cy="2764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8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Science And Engineering</a:t>
            </a:r>
            <a:endParaRPr lang="en-IN" sz="18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3571BC-C542-445E-BF4D-58F17190B9A6}"/>
              </a:ext>
            </a:extLst>
          </p:cNvPr>
          <p:cNvSpPr txBox="1">
            <a:spLocks/>
          </p:cNvSpPr>
          <p:nvPr/>
        </p:nvSpPr>
        <p:spPr>
          <a:xfrm>
            <a:off x="6957726" y="2078149"/>
            <a:ext cx="5234274" cy="38098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B45C6B90-4B79-214F-0FA9-8EA56F007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4473" y="334224"/>
            <a:ext cx="929550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15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kumimoji="0" lang="en-IN" altLang="en-US" sz="3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I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Agile Process Model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15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B35C4-9016-C257-C1CE-61EEC42BD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owners: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sprint backlog is a prioritized list of tasks selected from the product backlog for completion in a sprint.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product backlog is a prioritized list of work derived from the roadmap, guiding development teams on what to deliver next.</a:t>
            </a: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31355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 txBox="1">
            <a:spLocks/>
          </p:cNvSpPr>
          <p:nvPr/>
        </p:nvSpPr>
        <p:spPr>
          <a:xfrm>
            <a:off x="681616" y="2119729"/>
            <a:ext cx="5135154" cy="38098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2023" y="0"/>
            <a:ext cx="1712857" cy="1703294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616" y="416435"/>
            <a:ext cx="1353671" cy="870374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-99" y="6320941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/>
          <p:cNvSpPr txBox="1"/>
          <p:nvPr/>
        </p:nvSpPr>
        <p:spPr>
          <a:xfrm>
            <a:off x="9145709" y="6364273"/>
            <a:ext cx="2544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www.cambridge.edu.in</a:t>
            </a:r>
          </a:p>
        </p:txBody>
      </p:sp>
      <p:sp>
        <p:nvSpPr>
          <p:cNvPr id="24" name="Title 6"/>
          <p:cNvSpPr txBox="1">
            <a:spLocks/>
          </p:cNvSpPr>
          <p:nvPr/>
        </p:nvSpPr>
        <p:spPr>
          <a:xfrm>
            <a:off x="502023" y="6457194"/>
            <a:ext cx="6308707" cy="2764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8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Science And Engineering</a:t>
            </a:r>
            <a:endParaRPr lang="en-IN" sz="18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3571BC-C542-445E-BF4D-58F17190B9A6}"/>
              </a:ext>
            </a:extLst>
          </p:cNvPr>
          <p:cNvSpPr txBox="1">
            <a:spLocks/>
          </p:cNvSpPr>
          <p:nvPr/>
        </p:nvSpPr>
        <p:spPr>
          <a:xfrm>
            <a:off x="6957726" y="2078149"/>
            <a:ext cx="5234274" cy="38098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B45C6B90-4B79-214F-0FA9-8EA56F007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4473" y="334224"/>
            <a:ext cx="929550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15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kumimoji="0" lang="en-IN" altLang="en-US" sz="3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I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Agile Process Model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15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B35C4-9016-C257-C1CE-61EEC42BD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i="0" dirty="0">
                <a:solidFill>
                  <a:srgbClr val="10121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Scrum master:</a:t>
            </a:r>
          </a:p>
          <a:p>
            <a:pPr algn="just"/>
            <a:r>
              <a:rPr lang="en-US" b="0" i="0" dirty="0">
                <a:solidFill>
                  <a:srgbClr val="292A2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Scrum masters are the champions of Scrum within their teams. They coach teams, product owners, and the business on the Scrum process and look for ways to fine-tune their practice. </a:t>
            </a:r>
          </a:p>
          <a:p>
            <a:pPr algn="just"/>
            <a:r>
              <a:rPr lang="en-US" b="0" i="0" dirty="0">
                <a:solidFill>
                  <a:srgbClr val="292A2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key responsibility of the Scrum master is to enhance the Scrum team's effectiveness by coaching, removing impediments, and facilitating Scrum processes. This helps them improve overall team performance and delivery.</a:t>
            </a: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74315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 txBox="1">
            <a:spLocks/>
          </p:cNvSpPr>
          <p:nvPr/>
        </p:nvSpPr>
        <p:spPr>
          <a:xfrm>
            <a:off x="681616" y="2119729"/>
            <a:ext cx="5135154" cy="38098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2023" y="0"/>
            <a:ext cx="1712857" cy="1703294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616" y="416435"/>
            <a:ext cx="1353671" cy="870374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-99" y="6320941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/>
          <p:cNvSpPr txBox="1"/>
          <p:nvPr/>
        </p:nvSpPr>
        <p:spPr>
          <a:xfrm>
            <a:off x="9145709" y="6364273"/>
            <a:ext cx="2544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www.cambridge.edu.in</a:t>
            </a:r>
          </a:p>
        </p:txBody>
      </p:sp>
      <p:sp>
        <p:nvSpPr>
          <p:cNvPr id="24" name="Title 6"/>
          <p:cNvSpPr txBox="1">
            <a:spLocks/>
          </p:cNvSpPr>
          <p:nvPr/>
        </p:nvSpPr>
        <p:spPr>
          <a:xfrm>
            <a:off x="502023" y="6457194"/>
            <a:ext cx="6308707" cy="2764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8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Science And Engineering</a:t>
            </a:r>
            <a:endParaRPr lang="en-IN" sz="18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3571BC-C542-445E-BF4D-58F17190B9A6}"/>
              </a:ext>
            </a:extLst>
          </p:cNvPr>
          <p:cNvSpPr txBox="1">
            <a:spLocks/>
          </p:cNvSpPr>
          <p:nvPr/>
        </p:nvSpPr>
        <p:spPr>
          <a:xfrm>
            <a:off x="6957726" y="2078149"/>
            <a:ext cx="5234274" cy="38098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B45C6B90-4B79-214F-0FA9-8EA56F007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4473" y="334224"/>
            <a:ext cx="929550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15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kumimoji="0" lang="en-IN" altLang="en-US" sz="3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I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Agile Process Model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15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B35C4-9016-C257-C1CE-61EEC42BD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i="0" dirty="0">
                <a:solidFill>
                  <a:srgbClr val="10121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Scrum </a:t>
            </a:r>
            <a:r>
              <a:rPr lang="en-US" b="1" dirty="0">
                <a:solidFill>
                  <a:srgbClr val="1012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Development Team</a:t>
            </a:r>
            <a:r>
              <a:rPr lang="en-US" b="1" i="0" dirty="0">
                <a:solidFill>
                  <a:srgbClr val="10121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Scrum Development Team is a self-organizing, cross-functional group responsible for delivering a potentially shippable product increment at the end of each sprint.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play a pivotal role in the success of Scrum by collaborating to meet sprint goals and ensuring high-quality deliverables.</a:t>
            </a:r>
          </a:p>
        </p:txBody>
      </p:sp>
    </p:spTree>
    <p:extLst>
      <p:ext uri="{BB962C8B-B14F-4D97-AF65-F5344CB8AC3E}">
        <p14:creationId xmlns:p14="http://schemas.microsoft.com/office/powerpoint/2010/main" val="18045800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 txBox="1">
            <a:spLocks/>
          </p:cNvSpPr>
          <p:nvPr/>
        </p:nvSpPr>
        <p:spPr>
          <a:xfrm>
            <a:off x="681616" y="2119729"/>
            <a:ext cx="5135154" cy="38098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2023" y="0"/>
            <a:ext cx="1712857" cy="1703294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616" y="416435"/>
            <a:ext cx="1353671" cy="870374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-99" y="6320941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/>
          <p:cNvSpPr txBox="1"/>
          <p:nvPr/>
        </p:nvSpPr>
        <p:spPr>
          <a:xfrm>
            <a:off x="9145709" y="6364273"/>
            <a:ext cx="2544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www.cambridge.edu.in</a:t>
            </a:r>
          </a:p>
        </p:txBody>
      </p:sp>
      <p:sp>
        <p:nvSpPr>
          <p:cNvPr id="24" name="Title 6"/>
          <p:cNvSpPr txBox="1">
            <a:spLocks/>
          </p:cNvSpPr>
          <p:nvPr/>
        </p:nvSpPr>
        <p:spPr>
          <a:xfrm>
            <a:off x="502023" y="6457194"/>
            <a:ext cx="6308707" cy="2764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8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Science And Engineering</a:t>
            </a:r>
            <a:endParaRPr lang="en-IN" sz="18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3571BC-C542-445E-BF4D-58F17190B9A6}"/>
              </a:ext>
            </a:extLst>
          </p:cNvPr>
          <p:cNvSpPr txBox="1">
            <a:spLocks/>
          </p:cNvSpPr>
          <p:nvPr/>
        </p:nvSpPr>
        <p:spPr>
          <a:xfrm>
            <a:off x="6957726" y="2078149"/>
            <a:ext cx="5234274" cy="38098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B45C6B90-4B79-214F-0FA9-8EA56F007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4473" y="334224"/>
            <a:ext cx="929550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15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I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Jira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15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B35C4-9016-C257-C1CE-61EEC42BD7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616" y="1807397"/>
            <a:ext cx="10515600" cy="4351338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Jira is a, AI-powered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management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issue-tracking tool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by Atlassian.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widely used by software development, marketing, and HR teams 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plan, track, and release projects using Agile frameworks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 Scrum and Kanban.</a:t>
            </a:r>
          </a:p>
        </p:txBody>
      </p:sp>
    </p:spTree>
    <p:extLst>
      <p:ext uri="{BB962C8B-B14F-4D97-AF65-F5344CB8AC3E}">
        <p14:creationId xmlns:p14="http://schemas.microsoft.com/office/powerpoint/2010/main" val="24858541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 txBox="1">
            <a:spLocks/>
          </p:cNvSpPr>
          <p:nvPr/>
        </p:nvSpPr>
        <p:spPr>
          <a:xfrm>
            <a:off x="681616" y="2119729"/>
            <a:ext cx="5135154" cy="38098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2023" y="0"/>
            <a:ext cx="1712857" cy="1703294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616" y="416435"/>
            <a:ext cx="1353671" cy="870374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-99" y="6320941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/>
          <p:cNvSpPr txBox="1"/>
          <p:nvPr/>
        </p:nvSpPr>
        <p:spPr>
          <a:xfrm>
            <a:off x="9145709" y="6364273"/>
            <a:ext cx="2544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www.cambridge.edu.in</a:t>
            </a:r>
          </a:p>
        </p:txBody>
      </p:sp>
      <p:sp>
        <p:nvSpPr>
          <p:cNvPr id="24" name="Title 6"/>
          <p:cNvSpPr txBox="1">
            <a:spLocks/>
          </p:cNvSpPr>
          <p:nvPr/>
        </p:nvSpPr>
        <p:spPr>
          <a:xfrm>
            <a:off x="502023" y="6457194"/>
            <a:ext cx="6308707" cy="2764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8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Science And Engineering</a:t>
            </a:r>
            <a:endParaRPr lang="en-IN" sz="18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3571BC-C542-445E-BF4D-58F17190B9A6}"/>
              </a:ext>
            </a:extLst>
          </p:cNvPr>
          <p:cNvSpPr txBox="1">
            <a:spLocks/>
          </p:cNvSpPr>
          <p:nvPr/>
        </p:nvSpPr>
        <p:spPr>
          <a:xfrm>
            <a:off x="6957726" y="2078149"/>
            <a:ext cx="5234274" cy="38098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B45C6B90-4B79-214F-0FA9-8EA56F007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4473" y="334224"/>
            <a:ext cx="929550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15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I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Jira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15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B35C4-9016-C257-C1CE-61EEC42BD7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616" y="1807397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is JIRA used in Agile? </a:t>
            </a: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Create a Project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❑ Choose Scrum or Kanban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❑ Define team members</a:t>
            </a: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Create Issues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Issues can be: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❑ Story (feature request)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❑ Task (work to do)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❑ Bug (problem to fix)</a:t>
            </a:r>
          </a:p>
        </p:txBody>
      </p:sp>
    </p:spTree>
    <p:extLst>
      <p:ext uri="{BB962C8B-B14F-4D97-AF65-F5344CB8AC3E}">
        <p14:creationId xmlns:p14="http://schemas.microsoft.com/office/powerpoint/2010/main" val="12965829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 txBox="1">
            <a:spLocks/>
          </p:cNvSpPr>
          <p:nvPr/>
        </p:nvSpPr>
        <p:spPr>
          <a:xfrm>
            <a:off x="681616" y="2119729"/>
            <a:ext cx="5135154" cy="38098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2023" y="0"/>
            <a:ext cx="1712857" cy="1703294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616" y="416435"/>
            <a:ext cx="1353671" cy="870374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-99" y="6320941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/>
          <p:cNvSpPr txBox="1"/>
          <p:nvPr/>
        </p:nvSpPr>
        <p:spPr>
          <a:xfrm>
            <a:off x="9145709" y="6364273"/>
            <a:ext cx="2544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www.cambridge.edu.in</a:t>
            </a:r>
          </a:p>
        </p:txBody>
      </p:sp>
      <p:sp>
        <p:nvSpPr>
          <p:cNvPr id="24" name="Title 6"/>
          <p:cNvSpPr txBox="1">
            <a:spLocks/>
          </p:cNvSpPr>
          <p:nvPr/>
        </p:nvSpPr>
        <p:spPr>
          <a:xfrm>
            <a:off x="502023" y="6457194"/>
            <a:ext cx="6308707" cy="2764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8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Science And Engineering</a:t>
            </a:r>
            <a:endParaRPr lang="en-IN" sz="18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3571BC-C542-445E-BF4D-58F17190B9A6}"/>
              </a:ext>
            </a:extLst>
          </p:cNvPr>
          <p:cNvSpPr txBox="1">
            <a:spLocks/>
          </p:cNvSpPr>
          <p:nvPr/>
        </p:nvSpPr>
        <p:spPr>
          <a:xfrm>
            <a:off x="6957726" y="2078149"/>
            <a:ext cx="5234274" cy="38098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B45C6B90-4B79-214F-0FA9-8EA56F007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4473" y="334224"/>
            <a:ext cx="929550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15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I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Jira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15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B35C4-9016-C257-C1CE-61EEC42BD7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616" y="1807397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is JIRA used in Agile? (Step-by-Step)</a:t>
            </a: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Sprint Planning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issues for the sprint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 effort</a:t>
            </a: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 Work &amp; Update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Developers move tasks: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Do → In Progress → Done</a:t>
            </a: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5: Review Progress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boards and charts</a:t>
            </a:r>
          </a:p>
        </p:txBody>
      </p:sp>
    </p:spTree>
    <p:extLst>
      <p:ext uri="{BB962C8B-B14F-4D97-AF65-F5344CB8AC3E}">
        <p14:creationId xmlns:p14="http://schemas.microsoft.com/office/powerpoint/2010/main" val="17384545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 txBox="1">
            <a:spLocks/>
          </p:cNvSpPr>
          <p:nvPr/>
        </p:nvSpPr>
        <p:spPr>
          <a:xfrm>
            <a:off x="681616" y="2119729"/>
            <a:ext cx="5135154" cy="38098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2023" y="0"/>
            <a:ext cx="1712857" cy="1703294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616" y="416435"/>
            <a:ext cx="1353671" cy="870374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-99" y="6320941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/>
          <p:cNvSpPr txBox="1"/>
          <p:nvPr/>
        </p:nvSpPr>
        <p:spPr>
          <a:xfrm>
            <a:off x="9145709" y="6364273"/>
            <a:ext cx="2544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www.cambridge.edu.in</a:t>
            </a:r>
          </a:p>
        </p:txBody>
      </p:sp>
      <p:sp>
        <p:nvSpPr>
          <p:cNvPr id="24" name="Title 6"/>
          <p:cNvSpPr txBox="1">
            <a:spLocks/>
          </p:cNvSpPr>
          <p:nvPr/>
        </p:nvSpPr>
        <p:spPr>
          <a:xfrm>
            <a:off x="502023" y="6457194"/>
            <a:ext cx="6308707" cy="2764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8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Science And Engineering</a:t>
            </a:r>
            <a:endParaRPr lang="en-IN" sz="18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3571BC-C542-445E-BF4D-58F17190B9A6}"/>
              </a:ext>
            </a:extLst>
          </p:cNvPr>
          <p:cNvSpPr txBox="1">
            <a:spLocks/>
          </p:cNvSpPr>
          <p:nvPr/>
        </p:nvSpPr>
        <p:spPr>
          <a:xfrm>
            <a:off x="6957726" y="2078149"/>
            <a:ext cx="5234274" cy="38098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B45C6B90-4B79-214F-0FA9-8EA56F007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4473" y="334224"/>
            <a:ext cx="929550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15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kumimoji="0" lang="en-IN" altLang="en-US" sz="3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Creating Jira Account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15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B35C4-9016-C257-C1CE-61EEC42BD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Step-1: Go to the link </a:t>
            </a:r>
            <a:r>
              <a:rPr lang="en-IN" dirty="0">
                <a:hlinkClick r:id="rId3"/>
              </a:rPr>
              <a:t>https://www.atlassian.com/try/cloud/signup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F86632-4543-6EEE-96CD-37CD55A93F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6293" y="2634343"/>
            <a:ext cx="7220958" cy="3581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7707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 txBox="1">
            <a:spLocks/>
          </p:cNvSpPr>
          <p:nvPr/>
        </p:nvSpPr>
        <p:spPr>
          <a:xfrm>
            <a:off x="681616" y="2119729"/>
            <a:ext cx="5135154" cy="38098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2023" y="0"/>
            <a:ext cx="1712857" cy="1703294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616" y="416435"/>
            <a:ext cx="1353671" cy="870374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-99" y="6320941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/>
          <p:cNvSpPr txBox="1"/>
          <p:nvPr/>
        </p:nvSpPr>
        <p:spPr>
          <a:xfrm>
            <a:off x="9145709" y="6364273"/>
            <a:ext cx="2544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www.cambridge.edu.in</a:t>
            </a:r>
          </a:p>
        </p:txBody>
      </p:sp>
      <p:sp>
        <p:nvSpPr>
          <p:cNvPr id="24" name="Title 6"/>
          <p:cNvSpPr txBox="1">
            <a:spLocks/>
          </p:cNvSpPr>
          <p:nvPr/>
        </p:nvSpPr>
        <p:spPr>
          <a:xfrm>
            <a:off x="502023" y="6457194"/>
            <a:ext cx="6308707" cy="2764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8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Science And Engineering</a:t>
            </a:r>
            <a:endParaRPr lang="en-IN" sz="18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3571BC-C542-445E-BF4D-58F17190B9A6}"/>
              </a:ext>
            </a:extLst>
          </p:cNvPr>
          <p:cNvSpPr txBox="1">
            <a:spLocks/>
          </p:cNvSpPr>
          <p:nvPr/>
        </p:nvSpPr>
        <p:spPr>
          <a:xfrm>
            <a:off x="6957726" y="2078149"/>
            <a:ext cx="5234274" cy="38098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B45C6B90-4B79-214F-0FA9-8EA56F007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4473" y="334224"/>
            <a:ext cx="929550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15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kumimoji="0" lang="en-IN" altLang="en-US" sz="3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Creating Jira Account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15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B35C4-9016-C257-C1CE-61EEC42BD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Step-2: Give your official college id for sign up</a:t>
            </a: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1DC36B-ECCC-874F-C71E-A2D6296D19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4774" y="2508572"/>
            <a:ext cx="9902253" cy="365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6116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 txBox="1">
            <a:spLocks/>
          </p:cNvSpPr>
          <p:nvPr/>
        </p:nvSpPr>
        <p:spPr>
          <a:xfrm>
            <a:off x="681616" y="2119729"/>
            <a:ext cx="5135154" cy="38098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2023" y="0"/>
            <a:ext cx="1712857" cy="1703294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616" y="416435"/>
            <a:ext cx="1353671" cy="870374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-99" y="6320941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/>
          <p:cNvSpPr txBox="1"/>
          <p:nvPr/>
        </p:nvSpPr>
        <p:spPr>
          <a:xfrm>
            <a:off x="9145709" y="6364273"/>
            <a:ext cx="2544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www.cambridge.edu.in</a:t>
            </a:r>
          </a:p>
        </p:txBody>
      </p:sp>
      <p:sp>
        <p:nvSpPr>
          <p:cNvPr id="24" name="Title 6"/>
          <p:cNvSpPr txBox="1">
            <a:spLocks/>
          </p:cNvSpPr>
          <p:nvPr/>
        </p:nvSpPr>
        <p:spPr>
          <a:xfrm>
            <a:off x="502023" y="6457194"/>
            <a:ext cx="6308707" cy="2764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8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Science And Engineering</a:t>
            </a:r>
            <a:endParaRPr lang="en-IN" sz="18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3571BC-C542-445E-BF4D-58F17190B9A6}"/>
              </a:ext>
            </a:extLst>
          </p:cNvPr>
          <p:cNvSpPr txBox="1">
            <a:spLocks/>
          </p:cNvSpPr>
          <p:nvPr/>
        </p:nvSpPr>
        <p:spPr>
          <a:xfrm>
            <a:off x="6957726" y="2078149"/>
            <a:ext cx="5234274" cy="38098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B45C6B90-4B79-214F-0FA9-8EA56F007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4473" y="334224"/>
            <a:ext cx="929550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15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kumimoji="0" lang="en-IN" altLang="en-US" sz="3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Creating Jira Account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15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B35C4-9016-C257-C1CE-61EEC42BD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Step-3: Open the mail and type the code which you have received and click verify.</a:t>
            </a: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E20BF2-E9F4-BB13-44E1-3BA558912E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4473" y="2986643"/>
            <a:ext cx="6954220" cy="3097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0549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 txBox="1">
            <a:spLocks/>
          </p:cNvSpPr>
          <p:nvPr/>
        </p:nvSpPr>
        <p:spPr>
          <a:xfrm>
            <a:off x="681616" y="2119729"/>
            <a:ext cx="5135154" cy="38098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2023" y="0"/>
            <a:ext cx="1712857" cy="1703294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616" y="416435"/>
            <a:ext cx="1353671" cy="870374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-99" y="6320941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/>
          <p:cNvSpPr txBox="1"/>
          <p:nvPr/>
        </p:nvSpPr>
        <p:spPr>
          <a:xfrm>
            <a:off x="9145709" y="6364273"/>
            <a:ext cx="2544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www.cambridge.edu.in</a:t>
            </a:r>
          </a:p>
        </p:txBody>
      </p:sp>
      <p:sp>
        <p:nvSpPr>
          <p:cNvPr id="24" name="Title 6"/>
          <p:cNvSpPr txBox="1">
            <a:spLocks/>
          </p:cNvSpPr>
          <p:nvPr/>
        </p:nvSpPr>
        <p:spPr>
          <a:xfrm>
            <a:off x="502023" y="6457194"/>
            <a:ext cx="6308707" cy="2764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8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Science And Engineering</a:t>
            </a:r>
            <a:endParaRPr lang="en-IN" sz="18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3571BC-C542-445E-BF4D-58F17190B9A6}"/>
              </a:ext>
            </a:extLst>
          </p:cNvPr>
          <p:cNvSpPr txBox="1">
            <a:spLocks/>
          </p:cNvSpPr>
          <p:nvPr/>
        </p:nvSpPr>
        <p:spPr>
          <a:xfrm>
            <a:off x="6957726" y="2078149"/>
            <a:ext cx="5234274" cy="38098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B45C6B90-4B79-214F-0FA9-8EA56F007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4473" y="334224"/>
            <a:ext cx="929550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15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kumimoji="0" lang="en-IN" altLang="en-US" sz="3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Creating Jira Account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15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B35C4-9016-C257-C1CE-61EEC42BD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Step-4: Give full Name and Password and click Continue.</a:t>
            </a: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E1D4AD-E485-6391-AB11-96982ECFA3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8029" y="2433857"/>
            <a:ext cx="4877481" cy="3619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5974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 txBox="1">
            <a:spLocks/>
          </p:cNvSpPr>
          <p:nvPr/>
        </p:nvSpPr>
        <p:spPr>
          <a:xfrm>
            <a:off x="681616" y="2119729"/>
            <a:ext cx="5135154" cy="38098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2023" y="0"/>
            <a:ext cx="1712857" cy="1703294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616" y="416435"/>
            <a:ext cx="1353671" cy="870374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-99" y="6320941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/>
          <p:cNvSpPr txBox="1"/>
          <p:nvPr/>
        </p:nvSpPr>
        <p:spPr>
          <a:xfrm>
            <a:off x="9145709" y="6364273"/>
            <a:ext cx="2544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www.cambridge.edu.in</a:t>
            </a:r>
          </a:p>
        </p:txBody>
      </p:sp>
      <p:sp>
        <p:nvSpPr>
          <p:cNvPr id="24" name="Title 6"/>
          <p:cNvSpPr txBox="1">
            <a:spLocks/>
          </p:cNvSpPr>
          <p:nvPr/>
        </p:nvSpPr>
        <p:spPr>
          <a:xfrm>
            <a:off x="502023" y="6457194"/>
            <a:ext cx="6308707" cy="2764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8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Science And Engineering</a:t>
            </a:r>
            <a:endParaRPr lang="en-IN" sz="18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3571BC-C542-445E-BF4D-58F17190B9A6}"/>
              </a:ext>
            </a:extLst>
          </p:cNvPr>
          <p:cNvSpPr txBox="1">
            <a:spLocks/>
          </p:cNvSpPr>
          <p:nvPr/>
        </p:nvSpPr>
        <p:spPr>
          <a:xfrm>
            <a:off x="6957726" y="2078149"/>
            <a:ext cx="5234274" cy="38098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B45C6B90-4B79-214F-0FA9-8EA56F007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4473" y="334224"/>
            <a:ext cx="929550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15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kumimoji="0" lang="en-IN" altLang="en-US" sz="3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Creating Jira Account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15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B35C4-9016-C257-C1CE-61EEC42BD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Step-5: Give site name for the Atlassian site and click continue.</a:t>
            </a: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CB36A5-F680-14BD-4A10-AD79E9DBBF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8225" y="2437310"/>
            <a:ext cx="5087060" cy="3724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0515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 txBox="1">
            <a:spLocks/>
          </p:cNvSpPr>
          <p:nvPr/>
        </p:nvSpPr>
        <p:spPr>
          <a:xfrm>
            <a:off x="681616" y="2119729"/>
            <a:ext cx="5135154" cy="38098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2023" y="0"/>
            <a:ext cx="1712857" cy="1703294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616" y="416435"/>
            <a:ext cx="1353671" cy="870374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-99" y="6331827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/>
          <p:cNvSpPr txBox="1"/>
          <p:nvPr/>
        </p:nvSpPr>
        <p:spPr>
          <a:xfrm>
            <a:off x="9145709" y="6364273"/>
            <a:ext cx="2544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www.cambridge.edu.in</a:t>
            </a:r>
          </a:p>
        </p:txBody>
      </p:sp>
      <p:sp>
        <p:nvSpPr>
          <p:cNvPr id="24" name="Title 6"/>
          <p:cNvSpPr txBox="1">
            <a:spLocks/>
          </p:cNvSpPr>
          <p:nvPr/>
        </p:nvSpPr>
        <p:spPr>
          <a:xfrm>
            <a:off x="502023" y="6457194"/>
            <a:ext cx="6308707" cy="2764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8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Science And Engineering</a:t>
            </a:r>
            <a:endParaRPr lang="en-IN" sz="18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3571BC-C542-445E-BF4D-58F17190B9A6}"/>
              </a:ext>
            </a:extLst>
          </p:cNvPr>
          <p:cNvSpPr txBox="1">
            <a:spLocks/>
          </p:cNvSpPr>
          <p:nvPr/>
        </p:nvSpPr>
        <p:spPr>
          <a:xfrm>
            <a:off x="6957726" y="2078149"/>
            <a:ext cx="5234274" cy="38098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B45C6B90-4B79-214F-0FA9-8EA56F007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4473" y="334224"/>
            <a:ext cx="929550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15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kumimoji="0" lang="en-IN" altLang="en-US" sz="36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Creating Jira Account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15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B35C4-9016-C257-C1CE-61EEC42BD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Step-5: Login to your account and Select Scrum from the template and click continue.</a:t>
            </a: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8B1641-2933-F078-EE35-430838E964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463" y="2258063"/>
            <a:ext cx="5418307" cy="36171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B967319-3CD5-FDB2-0BB8-B26A884D2D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2994" y="3132001"/>
            <a:ext cx="5740806" cy="3044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6558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 txBox="1">
            <a:spLocks/>
          </p:cNvSpPr>
          <p:nvPr/>
        </p:nvSpPr>
        <p:spPr>
          <a:xfrm>
            <a:off x="681616" y="2119729"/>
            <a:ext cx="5135154" cy="38098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2023" y="0"/>
            <a:ext cx="1712857" cy="1703294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616" y="416435"/>
            <a:ext cx="1353671" cy="870374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-99" y="6331827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/>
          <p:cNvSpPr txBox="1"/>
          <p:nvPr/>
        </p:nvSpPr>
        <p:spPr>
          <a:xfrm>
            <a:off x="9145709" y="6364273"/>
            <a:ext cx="2544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www.cambridge.edu.in</a:t>
            </a:r>
          </a:p>
        </p:txBody>
      </p:sp>
      <p:sp>
        <p:nvSpPr>
          <p:cNvPr id="24" name="Title 6"/>
          <p:cNvSpPr txBox="1">
            <a:spLocks/>
          </p:cNvSpPr>
          <p:nvPr/>
        </p:nvSpPr>
        <p:spPr>
          <a:xfrm>
            <a:off x="502023" y="6457194"/>
            <a:ext cx="6308707" cy="2764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8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Science And Engineering</a:t>
            </a:r>
            <a:endParaRPr lang="en-IN" sz="18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3571BC-C542-445E-BF4D-58F17190B9A6}"/>
              </a:ext>
            </a:extLst>
          </p:cNvPr>
          <p:cNvSpPr txBox="1">
            <a:spLocks/>
          </p:cNvSpPr>
          <p:nvPr/>
        </p:nvSpPr>
        <p:spPr>
          <a:xfrm>
            <a:off x="6957726" y="2078149"/>
            <a:ext cx="5234274" cy="38098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B35C4-9016-C257-C1CE-61EEC42BD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Extreme Programming (XP)</a:t>
            </a: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❖ Focuses on engineering practices</a:t>
            </a: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Practices:</a:t>
            </a: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❑ Pair Programming</a:t>
            </a: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❑ Continuous Integration</a:t>
            </a: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❑ Refactoring</a:t>
            </a: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❑ Simple Design</a:t>
            </a: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❖ Emphasizes high code quality and customer involvement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06087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 txBox="1">
            <a:spLocks/>
          </p:cNvSpPr>
          <p:nvPr/>
        </p:nvSpPr>
        <p:spPr>
          <a:xfrm>
            <a:off x="681616" y="2119729"/>
            <a:ext cx="5135154" cy="38098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2023" y="0"/>
            <a:ext cx="1712857" cy="1703294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616" y="416435"/>
            <a:ext cx="1353671" cy="870374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-99" y="6331827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/>
          <p:cNvSpPr txBox="1"/>
          <p:nvPr/>
        </p:nvSpPr>
        <p:spPr>
          <a:xfrm>
            <a:off x="9145709" y="6364273"/>
            <a:ext cx="2544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www.cambridge.edu.in</a:t>
            </a:r>
          </a:p>
        </p:txBody>
      </p:sp>
      <p:sp>
        <p:nvSpPr>
          <p:cNvPr id="24" name="Title 6"/>
          <p:cNvSpPr txBox="1">
            <a:spLocks/>
          </p:cNvSpPr>
          <p:nvPr/>
        </p:nvSpPr>
        <p:spPr>
          <a:xfrm>
            <a:off x="502023" y="6457194"/>
            <a:ext cx="6308707" cy="2764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8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Science And Engineering</a:t>
            </a:r>
            <a:endParaRPr lang="en-IN" sz="18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3571BC-C542-445E-BF4D-58F17190B9A6}"/>
              </a:ext>
            </a:extLst>
          </p:cNvPr>
          <p:cNvSpPr txBox="1">
            <a:spLocks/>
          </p:cNvSpPr>
          <p:nvPr/>
        </p:nvSpPr>
        <p:spPr>
          <a:xfrm>
            <a:off x="6957726" y="2078149"/>
            <a:ext cx="5234274" cy="38098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B35C4-9016-C257-C1CE-61EEC42BD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Lean Software Development: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❖ Inspired by Lean Manufacturing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Principles: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❑ Eliminate waste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❑ Build quality in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❑ Deliver fast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❑ Respect people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❑ Optimize the whole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❖ Focuses on efficiency and value delivery</a:t>
            </a: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44751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 txBox="1">
            <a:spLocks/>
          </p:cNvSpPr>
          <p:nvPr/>
        </p:nvSpPr>
        <p:spPr>
          <a:xfrm>
            <a:off x="681616" y="2119729"/>
            <a:ext cx="5135154" cy="38098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2023" y="0"/>
            <a:ext cx="1712857" cy="1703294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616" y="416435"/>
            <a:ext cx="1353671" cy="870374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-99" y="6331827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/>
          <p:cNvSpPr txBox="1"/>
          <p:nvPr/>
        </p:nvSpPr>
        <p:spPr>
          <a:xfrm>
            <a:off x="9145709" y="6364273"/>
            <a:ext cx="2544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www.cambridge.edu.in</a:t>
            </a:r>
          </a:p>
        </p:txBody>
      </p:sp>
      <p:sp>
        <p:nvSpPr>
          <p:cNvPr id="24" name="Title 6"/>
          <p:cNvSpPr txBox="1">
            <a:spLocks/>
          </p:cNvSpPr>
          <p:nvPr/>
        </p:nvSpPr>
        <p:spPr>
          <a:xfrm>
            <a:off x="502023" y="6457194"/>
            <a:ext cx="6308707" cy="2764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8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Science And Engineering</a:t>
            </a:r>
            <a:endParaRPr lang="en-IN" sz="18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3571BC-C542-445E-BF4D-58F17190B9A6}"/>
              </a:ext>
            </a:extLst>
          </p:cNvPr>
          <p:cNvSpPr txBox="1">
            <a:spLocks/>
          </p:cNvSpPr>
          <p:nvPr/>
        </p:nvSpPr>
        <p:spPr>
          <a:xfrm>
            <a:off x="6957726" y="2078149"/>
            <a:ext cx="5234274" cy="38098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B35C4-9016-C257-C1CE-61EEC42BD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Test-Driven Development (TDD)</a:t>
            </a: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❖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is driven by tests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❖ Follows Red – Green – Refactor cycle: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❑ Write a failing test (Red)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❑ Write minimum code to pass the test (Green)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❑ Improve code quality (Refactor)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❖ Ensures reliable and maintainable code</a:t>
            </a:r>
          </a:p>
        </p:txBody>
      </p:sp>
    </p:spTree>
    <p:extLst>
      <p:ext uri="{BB962C8B-B14F-4D97-AF65-F5344CB8AC3E}">
        <p14:creationId xmlns:p14="http://schemas.microsoft.com/office/powerpoint/2010/main" val="32761540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 txBox="1">
            <a:spLocks/>
          </p:cNvSpPr>
          <p:nvPr/>
        </p:nvSpPr>
        <p:spPr>
          <a:xfrm>
            <a:off x="681616" y="2119729"/>
            <a:ext cx="5135154" cy="38098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2023" y="0"/>
            <a:ext cx="1712857" cy="1703294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616" y="416435"/>
            <a:ext cx="1353671" cy="870374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-99" y="6331827"/>
            <a:ext cx="12192000" cy="5715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/>
          <p:cNvSpPr txBox="1"/>
          <p:nvPr/>
        </p:nvSpPr>
        <p:spPr>
          <a:xfrm>
            <a:off x="9145709" y="6364273"/>
            <a:ext cx="2544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www.cambridge.edu.in</a:t>
            </a:r>
          </a:p>
        </p:txBody>
      </p:sp>
      <p:sp>
        <p:nvSpPr>
          <p:cNvPr id="24" name="Title 6"/>
          <p:cNvSpPr txBox="1">
            <a:spLocks/>
          </p:cNvSpPr>
          <p:nvPr/>
        </p:nvSpPr>
        <p:spPr>
          <a:xfrm>
            <a:off x="502023" y="6457194"/>
            <a:ext cx="6308707" cy="2764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8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Science And Engineering</a:t>
            </a:r>
            <a:endParaRPr lang="en-IN" sz="18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3571BC-C542-445E-BF4D-58F17190B9A6}"/>
              </a:ext>
            </a:extLst>
          </p:cNvPr>
          <p:cNvSpPr txBox="1">
            <a:spLocks/>
          </p:cNvSpPr>
          <p:nvPr/>
        </p:nvSpPr>
        <p:spPr>
          <a:xfrm>
            <a:off x="6957726" y="2078149"/>
            <a:ext cx="5234274" cy="38098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B35C4-9016-C257-C1CE-61EEC42BD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Kanban</a:t>
            </a: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❖ Visual workflow management method</a:t>
            </a: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❖ Uses a Kanban board with columns:</a:t>
            </a: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❑ To Do list</a:t>
            </a: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❑ In Progress</a:t>
            </a: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❑ Testing</a:t>
            </a: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❑ Done</a:t>
            </a: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❖ Limits Work in Progress (WIP)</a:t>
            </a: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❖ Suitable for continuous delivery systems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6001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A3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89733" tIns="44867" rIns="89733" bIns="44867" rtlCol="0" anchor="ctr"/>
          <a:lstStyle/>
          <a:p>
            <a:pPr algn="ctr"/>
            <a:endParaRPr lang="en-IN" sz="1600" dirty="0"/>
          </a:p>
        </p:txBody>
      </p:sp>
      <p:sp>
        <p:nvSpPr>
          <p:cNvPr id="12" name="Rectangle 11"/>
          <p:cNvSpPr/>
          <p:nvPr/>
        </p:nvSpPr>
        <p:spPr>
          <a:xfrm>
            <a:off x="5283200" y="3496733"/>
            <a:ext cx="901064" cy="60091"/>
          </a:xfrm>
          <a:prstGeom prst="rect">
            <a:avLst/>
          </a:prstGeom>
          <a:solidFill>
            <a:srgbClr val="00A1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9733" tIns="44867" rIns="89733" bIns="44867" rtlCol="0" anchor="ctr"/>
          <a:lstStyle/>
          <a:p>
            <a:pPr algn="ctr"/>
            <a:endParaRPr lang="en-IN" sz="160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82919BE-54ED-4FE5-8717-F73DAA9301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93026"/>
            <a:ext cx="9144000" cy="2263798"/>
          </a:xfrm>
        </p:spPr>
        <p:txBody>
          <a:bodyPr>
            <a:normAutofit/>
          </a:bodyPr>
          <a:lstStyle/>
          <a:p>
            <a:r>
              <a:rPr lang="en-IN" i="1" dirty="0">
                <a:solidFill>
                  <a:schemeClr val="bg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2549923355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15540</TotalTime>
  <Words>1575</Words>
  <Application>Microsoft Office PowerPoint</Application>
  <PresentationFormat>Widescreen</PresentationFormat>
  <Paragraphs>215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Arial</vt:lpstr>
      <vt:lpstr>Calibri</vt:lpstr>
      <vt:lpstr>Calibri Light</vt:lpstr>
      <vt:lpstr>Times New Roman</vt:lpstr>
      <vt:lpstr>Wingdings</vt:lpstr>
      <vt:lpstr>Office Theme</vt:lpstr>
      <vt:lpstr>Department of  Information Science and Engineering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CCD</dc:creator>
  <cp:lastModifiedBy>Anusha Bheemesh</cp:lastModifiedBy>
  <cp:revision>327</cp:revision>
  <dcterms:created xsi:type="dcterms:W3CDTF">2019-06-01T04:36:06Z</dcterms:created>
  <dcterms:modified xsi:type="dcterms:W3CDTF">2026-02-12T09:11:08Z</dcterms:modified>
</cp:coreProperties>
</file>